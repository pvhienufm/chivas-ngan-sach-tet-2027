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keyword-plan-source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KẾ HOẠCH QUẢNG CÁO · THÁNG 10/2026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KẾ HOẠCH QUẢNG CÁO · THÁNG 10/2026</a:t>
            </a:r>
            <a:endParaRPr lang="vi-VN" sz="1100"/>
          </a:p>
        </p:txBody>
      </p:sp>
      <p:sp>
        <p:nvSpPr>
          <p:cNvPr id="7" name="Bắt đầu quảng cáo Chivas trong tháng 10"/>
          <p:cNvSpPr txBox="1"/>
          <p:nvPr/>
        </p:nvSpPr>
        <p:spPr>
          <a:xfrm>
            <a:off x="685800" y="990600"/>
            <a:ext cx="108204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200" b="1">
                <a:solidFill>
                  <a:srgbClr val="261F1E"/>
                </a:solidFill>
                <a:latin typeface="Aptos"/>
                <a:ea typeface="Aptos"/>
              </a:rPr>
              <a:t xml:space="preserve">Bắt đầu quảng cáo Chivas trong tháng 10</a:t>
            </a:r>
            <a:endParaRPr lang="vi-VN" sz="3200"/>
          </a:p>
        </p:txBody>
      </p:sp>
      <p:sp>
        <p:nvSpPr>
          <p:cNvPr id="8" name="Shape"/>
          <p:cNvSpPr txBox="1"/>
          <p:nvPr/>
        </p:nvSpPr>
        <p:spPr>
          <a:xfrm>
            <a:off x="685800" y="2076450"/>
            <a:ext cx="3333750" cy="390525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9" name="NGÂN SÁCH MỖI CAMPAIGN"/>
          <p:cNvSpPr txBox="1"/>
          <p:nvPr/>
        </p:nvSpPr>
        <p:spPr>
          <a:xfrm>
            <a:off x="990600" y="24003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E8D9BB"/>
                </a:solidFill>
                <a:latin typeface="Aptos"/>
                <a:ea typeface="Aptos"/>
              </a:rPr>
              <a:t xml:space="preserve">NGÂN SÁCH MỖI CAMPAIGN</a:t>
            </a:r>
            <a:endParaRPr lang="vi-VN" sz="1100"/>
          </a:p>
        </p:txBody>
      </p:sp>
      <p:sp>
        <p:nvSpPr>
          <p:cNvPr id="10" name="100.000"/>
          <p:cNvSpPr txBox="1"/>
          <p:nvPr/>
        </p:nvSpPr>
        <p:spPr>
          <a:xfrm>
            <a:off x="990600" y="30003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4200" b="1">
                <a:solidFill>
                  <a:srgbClr val="FFFFFF"/>
                </a:solidFill>
                <a:latin typeface="Aptos"/>
                <a:ea typeface="Aptos"/>
              </a:rPr>
              <a:t xml:space="preserve">100.000</a:t>
            </a:r>
            <a:endParaRPr lang="vi-VN" sz="4200"/>
          </a:p>
        </p:txBody>
      </p:sp>
      <p:sp>
        <p:nvSpPr>
          <p:cNvPr id="11" name="đ/ngày"/>
          <p:cNvSpPr txBox="1"/>
          <p:nvPr/>
        </p:nvSpPr>
        <p:spPr>
          <a:xfrm>
            <a:off x="990600" y="3724275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>
                <a:solidFill>
                  <a:srgbClr val="FFFFFF"/>
                </a:solidFill>
                <a:latin typeface="Aptos"/>
                <a:ea typeface="Aptos"/>
              </a:rPr>
              <a:t xml:space="preserve">đ/ngày</a:t>
            </a:r>
            <a:endParaRPr lang="vi-VN" sz="1800"/>
          </a:p>
        </p:txBody>
      </p:sp>
      <p:sp>
        <p:nvSpPr>
          <p:cNvPr id="12" name="Shape"/>
          <p:cNvSpPr txBox="1"/>
          <p:nvPr/>
        </p:nvSpPr>
        <p:spPr>
          <a:xfrm>
            <a:off x="990600" y="4286250"/>
            <a:ext cx="685800" cy="2857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3" name="Search Chivas PMAX Chivas"/>
          <p:cNvSpPr txBox="1"/>
          <p:nvPr/>
        </p:nvSpPr>
        <p:spPr>
          <a:xfrm>
            <a:off x="990600" y="4572000"/>
            <a:ext cx="272415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FFFFFF"/>
                </a:solidFill>
                <a:latin typeface="Aptos"/>
                <a:ea typeface="Aptos"/>
              </a:rPr>
              <a:t xml:space="preserve">Search Chivas</a:t>
            </a:r>
            <a:endParaRPr lang="vi-VN" sz="1800"/>
          </a:p>
          <a:p>
            <a:pPr algn="l"/>
            <a:r>
              <a:rPr lang="vi-VN" sz="1800" b="1">
                <a:solidFill>
                  <a:srgbClr val="FFFFFF"/>
                </a:solidFill>
                <a:latin typeface="Aptos"/>
                <a:ea typeface="Aptos"/>
              </a:rPr>
              <a:t xml:space="preserve">PMAX Chivas</a:t>
            </a:r>
            <a:endParaRPr lang="vi-VN" sz="1800"/>
          </a:p>
        </p:txBody>
      </p:sp>
      <p:sp>
        <p:nvSpPr>
          <p:cNvPr id="14" name="Khởi chạy hai campaign Chivas ở mức 100."/>
          <p:cNvSpPr txBox="1"/>
          <p:nvPr/>
        </p:nvSpPr>
        <p:spPr>
          <a:xfrm>
            <a:off x="4438650" y="2114550"/>
            <a:ext cx="69532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000" b="1">
                <a:solidFill>
                  <a:srgbClr val="261F1E"/>
                </a:solidFill>
                <a:latin typeface="Aptos"/>
                <a:ea typeface="Aptos"/>
              </a:rPr>
              <a:t xml:space="preserve">Khởi chạy hai campaign Chivas ở mức 100.000 đ/ngày từ 10/10 để phủ trọn 4 tháng cao điểm.</a:t>
            </a:r>
            <a:endParaRPr lang="vi-VN" sz="2000"/>
          </a:p>
        </p:txBody>
      </p:sp>
      <p:sp>
        <p:nvSpPr>
          <p:cNvPr id="15" name="Shape"/>
          <p:cNvSpPr txBox="1"/>
          <p:nvPr/>
        </p:nvSpPr>
        <p:spPr>
          <a:xfrm>
            <a:off x="4438650" y="3143250"/>
            <a:ext cx="2000250" cy="11811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6" name="CHIVAS"/>
          <p:cNvSpPr txBox="1"/>
          <p:nvPr/>
        </p:nvSpPr>
        <p:spPr>
          <a:xfrm>
            <a:off x="4629150" y="328612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CHIVAS</a:t>
            </a:r>
            <a:endParaRPr lang="vi-VN" sz="1000"/>
          </a:p>
        </p:txBody>
      </p:sp>
      <p:sp>
        <p:nvSpPr>
          <p:cNvPr id="17" name="2 campaign"/>
          <p:cNvSpPr txBox="1"/>
          <p:nvPr/>
        </p:nvSpPr>
        <p:spPr>
          <a:xfrm>
            <a:off x="4629150" y="35623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2 campaign</a:t>
            </a:r>
            <a:endParaRPr lang="vi-VN" sz="1800"/>
          </a:p>
        </p:txBody>
      </p:sp>
      <p:sp>
        <p:nvSpPr>
          <p:cNvPr id="18" name="100.000 đ/ngày mỗi campaign"/>
          <p:cNvSpPr txBox="1"/>
          <p:nvPr/>
        </p:nvSpPr>
        <p:spPr>
          <a:xfrm>
            <a:off x="4629150" y="3895725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100.000 đ/ngày mỗi campaign</a:t>
            </a:r>
            <a:endParaRPr lang="vi-VN" sz="1100"/>
          </a:p>
        </p:txBody>
      </p:sp>
      <p:sp>
        <p:nvSpPr>
          <p:cNvPr id="19" name="+"/>
          <p:cNvSpPr txBox="1"/>
          <p:nvPr/>
        </p:nvSpPr>
        <p:spPr>
          <a:xfrm>
            <a:off x="6515100" y="35052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400" b="1">
                <a:solidFill>
                  <a:srgbClr val="B89051"/>
                </a:solidFill>
                <a:latin typeface="Aptos"/>
                <a:ea typeface="Aptos"/>
              </a:rPr>
              <a:t xml:space="preserve">+</a:t>
            </a:r>
            <a:endParaRPr lang="vi-VN" sz="2400"/>
          </a:p>
        </p:txBody>
      </p:sp>
      <p:sp>
        <p:nvSpPr>
          <p:cNvPr id="20" name="Shape"/>
          <p:cNvSpPr txBox="1"/>
          <p:nvPr/>
        </p:nvSpPr>
        <p:spPr>
          <a:xfrm>
            <a:off x="6858000" y="3143250"/>
            <a:ext cx="1809750" cy="11811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1" name="GIỮ LẠI"/>
          <p:cNvSpPr txBox="1"/>
          <p:nvPr/>
        </p:nvSpPr>
        <p:spPr>
          <a:xfrm>
            <a:off x="7048500" y="3286125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GIỮ LẠI</a:t>
            </a:r>
            <a:endParaRPr lang="vi-VN" sz="1000"/>
          </a:p>
        </p:txBody>
      </p:sp>
      <p:sp>
        <p:nvSpPr>
          <p:cNvPr id="22" name="1 campaign"/>
          <p:cNvSpPr txBox="1"/>
          <p:nvPr/>
        </p:nvSpPr>
        <p:spPr>
          <a:xfrm>
            <a:off x="7048500" y="35623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1 campaign</a:t>
            </a:r>
            <a:endParaRPr lang="vi-VN" sz="1800"/>
          </a:p>
        </p:txBody>
      </p:sp>
      <p:sp>
        <p:nvSpPr>
          <p:cNvPr id="23" name="80.000 đ/ngày"/>
          <p:cNvSpPr txBox="1"/>
          <p:nvPr/>
        </p:nvSpPr>
        <p:spPr>
          <a:xfrm>
            <a:off x="7048500" y="3895725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80.000 đ/ngày</a:t>
            </a:r>
            <a:endParaRPr lang="vi-VN" sz="1200"/>
          </a:p>
        </p:txBody>
      </p:sp>
      <p:sp>
        <p:nvSpPr>
          <p:cNvPr id="24" name="="/>
          <p:cNvSpPr txBox="1"/>
          <p:nvPr/>
        </p:nvSpPr>
        <p:spPr>
          <a:xfrm>
            <a:off x="8734425" y="35052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B89051"/>
                </a:solidFill>
                <a:latin typeface="Aptos"/>
                <a:ea typeface="Aptos"/>
              </a:rPr>
              <a:t xml:space="preserve">=</a:t>
            </a:r>
            <a:endParaRPr lang="vi-VN" sz="2200"/>
          </a:p>
        </p:txBody>
      </p:sp>
      <p:sp>
        <p:nvSpPr>
          <p:cNvPr id="25" name="Shape"/>
          <p:cNvSpPr txBox="1"/>
          <p:nvPr/>
        </p:nvSpPr>
        <p:spPr>
          <a:xfrm>
            <a:off x="9086850" y="3143250"/>
            <a:ext cx="2381250" cy="1181100"/>
          </a:xfrm>
          <a:prstGeom prst="rect">
            <a:avLst/>
          </a:prstGeom>
          <a:solidFill>
            <a:srgbClr val="F0E2DF"/>
          </a:solidFill>
          <a:ln w="9525">
            <a:solidFill>
              <a:srgbClr val="F0E2DF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6" name="TỔNG NGÂN SÁCH"/>
          <p:cNvSpPr txBox="1"/>
          <p:nvPr/>
        </p:nvSpPr>
        <p:spPr>
          <a:xfrm>
            <a:off x="9277350" y="328612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TỔNG NGÂN SÁCH</a:t>
            </a:r>
            <a:endParaRPr lang="vi-VN" sz="1000"/>
          </a:p>
        </p:txBody>
      </p:sp>
      <p:sp>
        <p:nvSpPr>
          <p:cNvPr id="27" name="280.000 đ/ngày"/>
          <p:cNvSpPr txBox="1"/>
          <p:nvPr/>
        </p:nvSpPr>
        <p:spPr>
          <a:xfrm>
            <a:off x="9277350" y="3562350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54131D"/>
                </a:solidFill>
                <a:latin typeface="Aptos"/>
                <a:ea typeface="Aptos"/>
              </a:rPr>
              <a:t xml:space="preserve">280.000 đ/ngày</a:t>
            </a:r>
            <a:endParaRPr lang="vi-VN" sz="1800"/>
          </a:p>
        </p:txBody>
      </p:sp>
      <p:sp>
        <p:nvSpPr>
          <p:cNvPr id="28" name="Tăng 70.000 đ · +33,3%"/>
          <p:cNvSpPr txBox="1"/>
          <p:nvPr/>
        </p:nvSpPr>
        <p:spPr>
          <a:xfrm>
            <a:off x="9277350" y="38957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Tăng 70.000 đ · +33,3%</a:t>
            </a:r>
            <a:endParaRPr lang="vi-VN" sz="1200"/>
          </a:p>
        </p:txBody>
      </p:sp>
      <p:sp>
        <p:nvSpPr>
          <p:cNvPr id="29" name="Shape"/>
          <p:cNvSpPr txBox="1"/>
          <p:nvPr/>
        </p:nvSpPr>
        <p:spPr>
          <a:xfrm>
            <a:off x="4438650" y="4667250"/>
            <a:ext cx="7029450" cy="9906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0" name="Cửa sổ cao điểm: 10/2026–01/2027. Tháng "/>
          <p:cNvSpPr txBox="1"/>
          <p:nvPr/>
        </p:nvSpPr>
        <p:spPr>
          <a:xfrm>
            <a:off x="4667250" y="4819650"/>
            <a:ext cx="6572250" cy="704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261F1E"/>
                </a:solidFill>
                <a:latin typeface="Aptos"/>
                <a:ea typeface="Aptos"/>
              </a:rPr>
              <a:t xml:space="preserve">Cửa sổ cao điểm: 10/2026–01/2027. Tháng 01 là tháng bán cao điểm cuối trước hạn giao Tết.</a:t>
            </a:r>
            <a:endParaRPr lang="vi-V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TÍN HIỆU TÌM KIẾM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TÍN HIỆU TÌM KIẾM</a:t>
            </a:r>
            <a:endParaRPr lang="vi-VN" sz="1100"/>
          </a:p>
        </p:txBody>
      </p:sp>
      <p:sp>
        <p:nvSpPr>
          <p:cNvPr id="7" name="Lượt tìm kiếm Chivas tăng trở lại từ thá"/>
          <p:cNvSpPr txBox="1"/>
          <p:nvPr/>
        </p:nvSpPr>
        <p:spPr>
          <a:xfrm>
            <a:off x="685800" y="990600"/>
            <a:ext cx="108204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Lượt tìm kiếm Chivas tăng trở lại từ tháng 8</a:t>
            </a:r>
            <a:endParaRPr lang="vi-VN" sz="3000"/>
          </a:p>
        </p:txBody>
      </p:sp>
      <p:pic>
        <p:nvPicPr>
          <p:cNvPr id="8" name="keyword-plan-source.png" descr="Google Ads Keyword Planner screenshot from the source d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6450"/>
            <a:ext cx="5238750" cy="2209800"/>
          </a:xfrm>
          <a:prstGeom prst="rect">
            <a:avLst/>
          </a:prstGeom>
          <a:ln>
            <a:noFill/>
          </a:ln>
        </p:spPr>
      </p:pic>
      <p:sp>
        <p:nvSpPr>
          <p:cNvPr id="9" name="THÁNG 8/2026 · LƯỢT TÌM KIẾM"/>
          <p:cNvSpPr txBox="1"/>
          <p:nvPr/>
        </p:nvSpPr>
        <p:spPr>
          <a:xfrm>
            <a:off x="685800" y="440055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THÁNG 8/2026 · LƯỢT TÌM KIẾM</a:t>
            </a:r>
            <a:endParaRPr lang="vi-VN" sz="1000"/>
          </a:p>
        </p:txBody>
      </p:sp>
      <p:sp>
        <p:nvSpPr>
          <p:cNvPr id="10" name="29.610"/>
          <p:cNvSpPr txBox="1"/>
          <p:nvPr/>
        </p:nvSpPr>
        <p:spPr>
          <a:xfrm>
            <a:off x="685800" y="464820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4000" b="1">
                <a:solidFill>
                  <a:srgbClr val="261F1E"/>
                </a:solidFill>
                <a:latin typeface="Aptos"/>
                <a:ea typeface="Aptos"/>
              </a:rPr>
              <a:t xml:space="preserve">29.610</a:t>
            </a:r>
            <a:endParaRPr lang="vi-VN" sz="4000"/>
          </a:p>
        </p:txBody>
      </p:sp>
      <p:sp>
        <p:nvSpPr>
          <p:cNvPr id="11" name="Shape"/>
          <p:cNvSpPr txBox="1"/>
          <p:nvPr/>
        </p:nvSpPr>
        <p:spPr>
          <a:xfrm>
            <a:off x="3276600" y="4629150"/>
            <a:ext cx="19050" cy="647700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2" name="+127%"/>
          <p:cNvSpPr txBox="1"/>
          <p:nvPr/>
        </p:nvSpPr>
        <p:spPr>
          <a:xfrm>
            <a:off x="3448050" y="462915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7A1F2B"/>
                </a:solidFill>
                <a:latin typeface="Aptos"/>
                <a:ea typeface="Aptos"/>
              </a:rPr>
              <a:t xml:space="preserve">+127%</a:t>
            </a:r>
            <a:endParaRPr lang="vi-VN" sz="2200"/>
          </a:p>
        </p:txBody>
      </p:sp>
      <p:sp>
        <p:nvSpPr>
          <p:cNvPr id="13" name="so với kỳ trước · Google Ads"/>
          <p:cNvSpPr txBox="1"/>
          <p:nvPr/>
        </p:nvSpPr>
        <p:spPr>
          <a:xfrm>
            <a:off x="3448050" y="49530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so với kỳ trước · Google Ads</a:t>
            </a:r>
            <a:endParaRPr lang="vi-VN" sz="1100"/>
          </a:p>
        </p:txBody>
      </p:sp>
      <p:sp>
        <p:nvSpPr>
          <p:cNvPr id="14" name="Ảnh chụp Keyword Planner, tạo ngày 10/10"/>
          <p:cNvSpPr txBox="1"/>
          <p:nvPr/>
        </p:nvSpPr>
        <p:spPr>
          <a:xfrm>
            <a:off x="685800" y="5429250"/>
            <a:ext cx="5143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Ảnh chụp Keyword Planner, tạo ngày 10/10/2026.</a:t>
            </a:r>
            <a:endParaRPr lang="vi-VN" sz="900"/>
          </a:p>
        </p:txBody>
      </p:sp>
      <p:sp>
        <p:nvSpPr>
          <p:cNvPr id="15" name="ĐIỀU DỮ LIỆU CHO THẤY"/>
          <p:cNvSpPr txBox="1"/>
          <p:nvPr/>
        </p:nvSpPr>
        <p:spPr>
          <a:xfrm>
            <a:off x="6477000" y="220980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ĐIỀU DỮ LIỆU CHO THẤY</a:t>
            </a:r>
            <a:endParaRPr lang="vi-VN" sz="1100"/>
          </a:p>
        </p:txBody>
      </p:sp>
      <p:sp>
        <p:nvSpPr>
          <p:cNvPr id="16" name="Tín hiệu tìm kiếm hỗ trợ việc bắt đầu ch"/>
          <p:cNvSpPr txBox="1"/>
          <p:nvPr/>
        </p:nvSpPr>
        <p:spPr>
          <a:xfrm>
            <a:off x="6477000" y="2705100"/>
            <a:ext cx="4857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261F1E"/>
                </a:solidFill>
                <a:latin typeface="Aptos"/>
                <a:ea typeface="Aptos"/>
              </a:rPr>
              <a:t xml:space="preserve">Tín hiệu tìm kiếm hỗ trợ việc bắt đầu chạy.</a:t>
            </a:r>
            <a:endParaRPr lang="vi-VN" sz="2200"/>
          </a:p>
        </p:txBody>
      </p:sp>
      <p:sp>
        <p:nvSpPr>
          <p:cNvPr id="17" name="Dữ liệu là tổng nhóm ý tưởng từ khóa. Ch"/>
          <p:cNvSpPr txBox="1"/>
          <p:nvPr/>
        </p:nvSpPr>
        <p:spPr>
          <a:xfrm>
            <a:off x="6477000" y="3771900"/>
            <a:ext cx="4857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716966"/>
                </a:solidFill>
                <a:latin typeface="Aptos"/>
                <a:ea typeface="Aptos"/>
              </a:rPr>
              <a:t xml:space="preserve">Dữ liệu là tổng nhóm ý tưởng từ khóa. Chưa có số liệu tháng 9–10/2026 để xác nhận đà tăng gần thời điểm triển khai.</a:t>
            </a:r>
            <a:endParaRPr lang="vi-VN" sz="1500"/>
          </a:p>
        </p:txBody>
      </p:sp>
      <p:sp>
        <p:nvSpPr>
          <p:cNvPr id="18" name="Shape"/>
          <p:cNvSpPr txBox="1"/>
          <p:nvPr/>
        </p:nvSpPr>
        <p:spPr>
          <a:xfrm>
            <a:off x="6477000" y="4972050"/>
            <a:ext cx="4857750" cy="723900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9" name="Chưa thể suy ra nhu cầu mua tăng cùng mứ"/>
          <p:cNvSpPr txBox="1"/>
          <p:nvPr/>
        </p:nvSpPr>
        <p:spPr>
          <a:xfrm>
            <a:off x="6705600" y="510540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400" b="1">
                <a:solidFill>
                  <a:srgbClr val="54131D"/>
                </a:solidFill>
                <a:latin typeface="Aptos"/>
                <a:ea typeface="Aptos"/>
              </a:rPr>
              <a:t xml:space="preserve">Chưa thể suy ra nhu cầu mua tăng cùng mức với lượt tìm kiếm.</a:t>
            </a:r>
            <a:endParaRPr lang="vi-V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HIỆU QUẢ QUẢNG CÁO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HIỆU QUẢ QUẢNG CÁO</a:t>
            </a:r>
            <a:endParaRPr lang="vi-VN" sz="1100"/>
          </a:p>
        </p:txBody>
      </p:sp>
      <p:sp>
        <p:nvSpPr>
          <p:cNvPr id="7" name="ROAS tăng vào mùa cao điểm, cần đối soát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261F1E"/>
                </a:solidFill>
                <a:latin typeface="Aptos"/>
                <a:ea typeface="Aptos"/>
              </a:rPr>
              <a:t xml:space="preserve">ROAS tăng vào mùa cao điểm, cần đối soát số liệu</a:t>
            </a:r>
            <a:endParaRPr lang="vi-VN" sz="2800"/>
          </a:p>
        </p:txBody>
      </p:sp>
      <p:graphicFrame>
        <p:nvGraphicFramePr>
          <p:cNvPr id="8" name="Editable data table"/>
          <p:cNvGraphicFramePr/>
          <p:nvPr/>
        </p:nvGraphicFramePr>
        <p:xfrm>
          <a:off x="685800" y="2095500"/>
          <a:ext cx="733425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381125"/>
                <a:gridCol w="1524000"/>
                <a:gridCol w="1524000"/>
                <a:gridCol w="1476375"/>
              </a:tblGrid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Tháng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Chi phí¹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Doanh thu¹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ROAS doanh thu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ROAS Purchase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10/2025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4,11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4,29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1,05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1,05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11/2025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4,45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9,46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2,12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2,12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12/2025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5,40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28,84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5,34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1,64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01/2026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6,07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39,26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6,47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1,53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02/2026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3,04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86,31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28,42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5,37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¹ Đơn vị triệu đồng. ROAS tính trên tổng"/>
          <p:cNvSpPr txBox="1"/>
          <p:nvPr/>
        </p:nvSpPr>
        <p:spPr>
          <a:xfrm>
            <a:off x="742950" y="5257800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716966"/>
                </a:solidFill>
                <a:latin typeface="Aptos"/>
                <a:ea typeface="Aptos"/>
              </a:rPr>
              <a:t xml:space="preserve">¹ Đơn vị triệu đồng. ROAS tính trên tổng hai campaign.</a:t>
            </a:r>
            <a:endParaRPr lang="vi-VN" sz="1000"/>
          </a:p>
        </p:txBody>
      </p:sp>
      <p:sp>
        <p:nvSpPr>
          <p:cNvPr id="10" name="Shape"/>
          <p:cNvSpPr txBox="1"/>
          <p:nvPr/>
        </p:nvSpPr>
        <p:spPr>
          <a:xfrm>
            <a:off x="8420100" y="2095500"/>
            <a:ext cx="3086100" cy="36957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1" name="CẦN KIỂM TRA"/>
          <p:cNvSpPr txBox="1"/>
          <p:nvPr/>
        </p:nvSpPr>
        <p:spPr>
          <a:xfrm>
            <a:off x="8667750" y="235267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CẦN KIỂM TRA</a:t>
            </a:r>
            <a:endParaRPr lang="vi-VN" sz="1100"/>
          </a:p>
        </p:txBody>
      </p:sp>
      <p:sp>
        <p:nvSpPr>
          <p:cNvPr id="12" name="Hai cách tính ROAS bắt đầu lệch từ tháng"/>
          <p:cNvSpPr txBox="1"/>
          <p:nvPr/>
        </p:nvSpPr>
        <p:spPr>
          <a:xfrm>
            <a:off x="8667750" y="2809875"/>
            <a:ext cx="2571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000" b="1">
                <a:solidFill>
                  <a:srgbClr val="261F1E"/>
                </a:solidFill>
                <a:latin typeface="Aptos"/>
                <a:ea typeface="Aptos"/>
              </a:rPr>
              <a:t xml:space="preserve">Hai cách tính ROAS bắt đầu lệch từ tháng 12.</a:t>
            </a:r>
            <a:endParaRPr lang="vi-VN" sz="2000"/>
          </a:p>
        </p:txBody>
      </p:sp>
      <p:sp>
        <p:nvSpPr>
          <p:cNvPr id="13" name="Tháng 10, cả hai chỉ số ở mức 1,05. Đối "/>
          <p:cNvSpPr txBox="1"/>
          <p:nvPr/>
        </p:nvSpPr>
        <p:spPr>
          <a:xfrm>
            <a:off x="8667750" y="3867150"/>
            <a:ext cx="2571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Tháng 10, cả hai chỉ số ở mức 1,05. Đối soát giá trị Purchase và doanh thu trước khi dùng ROAS để tăng ngân sách.</a:t>
            </a:r>
            <a:endParaRPr lang="vi-VN" sz="1300"/>
          </a:p>
        </p:txBody>
      </p:sp>
      <p:sp>
        <p:nvSpPr>
          <p:cNvPr id="14" name="1,05     tới     28,42"/>
          <p:cNvSpPr txBox="1"/>
          <p:nvPr/>
        </p:nvSpPr>
        <p:spPr>
          <a:xfrm>
            <a:off x="8667750" y="5105400"/>
            <a:ext cx="2571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7A1F2B"/>
                </a:solidFill>
                <a:latin typeface="Aptos"/>
                <a:ea typeface="Aptos"/>
              </a:rPr>
              <a:t xml:space="preserve">1,05     tới     28,42</a:t>
            </a:r>
            <a:endParaRPr lang="vi-VN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SO SÁNH NGÂN SÁCH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SO SÁNH NGÂN SÁCH</a:t>
            </a:r>
            <a:endParaRPr lang="vi-VN" sz="1100"/>
          </a:p>
        </p:txBody>
      </p:sp>
      <p:sp>
        <p:nvSpPr>
          <p:cNvPr id="7" name="Mức 100.000 đ/ngày cần thêm 70.000 đ mỗi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Mức 100.000 đ/ngày cần thêm 70.000 đ mỗi ngày</a:t>
            </a:r>
            <a:endParaRPr lang="vi-VN" sz="3000"/>
          </a:p>
        </p:txBody>
      </p:sp>
      <p:graphicFrame>
        <p:nvGraphicFramePr>
          <p:cNvPr id="8" name="Editable data table"/>
          <p:cNvGraphicFramePr/>
          <p:nvPr/>
        </p:nvGraphicFramePr>
        <p:xfrm>
          <a:off x="685800" y="2114550"/>
          <a:ext cx="1082040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/>
                <a:gridCol w="2190750"/>
                <a:gridCol w="2238375"/>
                <a:gridCol w="3152775"/>
              </a:tblGrid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Phương án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Chivas/ngày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Tổng/ngày²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Kế hoạch 30 ngày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Mức ngân sách hiện tại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130.000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210.000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6.300.000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Đẩy 100k mỗi campaign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200.000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280.000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8.400.000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Ngân sách cần bổ sung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+70.000 đ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+33,3%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+2.100.000 đ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² Tổng/ngày bao gồm campaign giữ lại ở m"/>
          <p:cNvSpPr txBox="1"/>
          <p:nvPr/>
        </p:nvSpPr>
        <p:spPr>
          <a:xfrm>
            <a:off x="742950" y="44577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716966"/>
                </a:solidFill>
                <a:latin typeface="Aptos"/>
                <a:ea typeface="Aptos"/>
              </a:rPr>
              <a:t xml:space="preserve">² Tổng/ngày bao gồm campaign giữ lại ở mức 80.000 đ/ngày.</a:t>
            </a:r>
            <a:endParaRPr lang="vi-VN" sz="1000"/>
          </a:p>
        </p:txBody>
      </p:sp>
      <p:sp>
        <p:nvSpPr>
          <p:cNvPr id="10" name="Shape"/>
          <p:cNvSpPr txBox="1"/>
          <p:nvPr/>
        </p:nvSpPr>
        <p:spPr>
          <a:xfrm>
            <a:off x="685800" y="4914900"/>
            <a:ext cx="6667500" cy="10668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1" name="TỪ 10–31/10 · 22 NGÀY"/>
          <p:cNvSpPr txBox="1"/>
          <p:nvPr/>
        </p:nvSpPr>
        <p:spPr>
          <a:xfrm>
            <a:off x="895350" y="5057775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TỪ 10–31/10 · 22 NGÀY</a:t>
            </a:r>
            <a:endParaRPr lang="vi-VN" sz="1000"/>
          </a:p>
        </p:txBody>
      </p:sp>
      <p:sp>
        <p:nvSpPr>
          <p:cNvPr id="12" name="4,40 triệu"/>
          <p:cNvSpPr txBox="1"/>
          <p:nvPr/>
        </p:nvSpPr>
        <p:spPr>
          <a:xfrm>
            <a:off x="895350" y="5334000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4,40 triệu</a:t>
            </a:r>
            <a:endParaRPr lang="vi-VN" sz="1800"/>
          </a:p>
        </p:txBody>
      </p:sp>
      <p:sp>
        <p:nvSpPr>
          <p:cNvPr id="13" name="riêng 2 campaign Chivas"/>
          <p:cNvSpPr txBox="1"/>
          <p:nvPr/>
        </p:nvSpPr>
        <p:spPr>
          <a:xfrm>
            <a:off x="895350" y="5657850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riêng 2 campaign Chivas</a:t>
            </a:r>
            <a:endParaRPr lang="vi-VN" sz="1100"/>
          </a:p>
        </p:txBody>
      </p:sp>
      <p:sp>
        <p:nvSpPr>
          <p:cNvPr id="14" name="6,16 triệu"/>
          <p:cNvSpPr txBox="1"/>
          <p:nvPr/>
        </p:nvSpPr>
        <p:spPr>
          <a:xfrm>
            <a:off x="3848100" y="533400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6,16 triệu</a:t>
            </a:r>
            <a:endParaRPr lang="vi-VN" sz="1800"/>
          </a:p>
        </p:txBody>
      </p:sp>
      <p:sp>
        <p:nvSpPr>
          <p:cNvPr id="15" name="toàn bộ 3 campaign"/>
          <p:cNvSpPr txBox="1"/>
          <p:nvPr/>
        </p:nvSpPr>
        <p:spPr>
          <a:xfrm>
            <a:off x="3848100" y="565785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toàn bộ 3 campaign</a:t>
            </a:r>
            <a:endParaRPr lang="vi-VN" sz="1100"/>
          </a:p>
        </p:txBody>
      </p:sp>
      <p:sp>
        <p:nvSpPr>
          <p:cNvPr id="16" name="Shape"/>
          <p:cNvSpPr txBox="1"/>
          <p:nvPr/>
        </p:nvSpPr>
        <p:spPr>
          <a:xfrm>
            <a:off x="7600950" y="4914900"/>
            <a:ext cx="3905250" cy="10668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7" name="ĐỀ XUẤT THÁNG 10"/>
          <p:cNvSpPr txBox="1"/>
          <p:nvPr/>
        </p:nvSpPr>
        <p:spPr>
          <a:xfrm>
            <a:off x="7810500" y="503872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E8D9BB"/>
                </a:solidFill>
                <a:latin typeface="Aptos"/>
                <a:ea typeface="Aptos"/>
              </a:rPr>
              <a:t xml:space="preserve">ĐỀ XUẤT THÁNG 10</a:t>
            </a:r>
            <a:endParaRPr lang="vi-VN" sz="1000"/>
          </a:p>
        </p:txBody>
      </p:sp>
      <p:sp>
        <p:nvSpPr>
          <p:cNvPr id="18" name="Đẩy ngay từ ngày 10/10."/>
          <p:cNvSpPr txBox="1"/>
          <p:nvPr/>
        </p:nvSpPr>
        <p:spPr>
          <a:xfrm>
            <a:off x="7810500" y="531495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FFFFFF"/>
                </a:solidFill>
                <a:latin typeface="Aptos"/>
                <a:ea typeface="Aptos"/>
              </a:rPr>
              <a:t xml:space="preserve">Đẩy ngay từ ngày 10/10.</a:t>
            </a:r>
            <a:endParaRPr lang="vi-VN" sz="1700"/>
          </a:p>
        </p:txBody>
      </p:sp>
      <p:sp>
        <p:nvSpPr>
          <p:cNvPr id="19" name="100.000 đ/ngày cho mỗi campaign Chivas."/>
          <p:cNvSpPr txBox="1"/>
          <p:nvPr/>
        </p:nvSpPr>
        <p:spPr>
          <a:xfrm>
            <a:off x="7810500" y="5638800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FFFFFF"/>
                </a:solidFill>
                <a:latin typeface="Aptos"/>
                <a:ea typeface="Aptos"/>
              </a:rPr>
              <a:t xml:space="preserve">100.000 đ/ngày cho mỗi campaign Chivas.</a:t>
            </a:r>
            <a:endParaRPr lang="vi-V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LỘ TRÌNH ĐẾN TẾT 2027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LỘ TRÌNH ĐẾN TẾT 2027</a:t>
            </a:r>
            <a:endParaRPr lang="vi-VN" sz="1100"/>
          </a:p>
        </p:txBody>
      </p:sp>
      <p:sp>
        <p:nvSpPr>
          <p:cNvPr id="7" name="Phủ đủ 4 tháng cao điểm từ 10/2026 đến 0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261F1E"/>
                </a:solidFill>
                <a:latin typeface="Aptos"/>
                <a:ea typeface="Aptos"/>
              </a:rPr>
              <a:t xml:space="preserve">Phủ đủ 4 tháng cao điểm từ 10/2026 đến 01/2027</a:t>
            </a:r>
            <a:endParaRPr lang="vi-VN" sz="2800"/>
          </a:p>
        </p:txBody>
      </p:sp>
      <p:sp>
        <p:nvSpPr>
          <p:cNvPr id="8" name="Shape"/>
          <p:cNvSpPr txBox="1"/>
          <p:nvPr/>
        </p:nvSpPr>
        <p:spPr>
          <a:xfrm>
            <a:off x="876300" y="2171700"/>
            <a:ext cx="19050" cy="3333750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9" name="Shape"/>
          <p:cNvSpPr txBox="1"/>
          <p:nvPr/>
        </p:nvSpPr>
        <p:spPr>
          <a:xfrm>
            <a:off x="800100" y="2314575"/>
            <a:ext cx="171450" cy="17145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0" name="10/2026"/>
          <p:cNvSpPr txBox="1"/>
          <p:nvPr/>
        </p:nvSpPr>
        <p:spPr>
          <a:xfrm>
            <a:off x="1162050" y="2190750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10/2026</a:t>
            </a:r>
            <a:endParaRPr lang="vi-VN" sz="1300"/>
          </a:p>
        </p:txBody>
      </p:sp>
      <p:sp>
        <p:nvSpPr>
          <p:cNvPr id="11" name="Khởi động ở 100.000 đ/ngày"/>
          <p:cNvSpPr txBox="1"/>
          <p:nvPr/>
        </p:nvSpPr>
        <p:spPr>
          <a:xfrm>
            <a:off x="3486150" y="21336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Khởi động ở 100.000 đ/ngày</a:t>
            </a:r>
            <a:endParaRPr lang="vi-VN" sz="1700"/>
          </a:p>
        </p:txBody>
      </p:sp>
      <p:sp>
        <p:nvSpPr>
          <p:cNvPr id="12" name="Mỗi campaign Chivas chạy từ ngày 10/10."/>
          <p:cNvSpPr txBox="1"/>
          <p:nvPr/>
        </p:nvSpPr>
        <p:spPr>
          <a:xfrm>
            <a:off x="3486150" y="24574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Mỗi campaign Chivas chạy từ ngày 10/10.</a:t>
            </a:r>
            <a:endParaRPr lang="vi-VN" sz="1200"/>
          </a:p>
        </p:txBody>
      </p:sp>
      <p:sp>
        <p:nvSpPr>
          <p:cNvPr id="13" name="Shape"/>
          <p:cNvSpPr txBox="1"/>
          <p:nvPr/>
        </p:nvSpPr>
        <p:spPr>
          <a:xfrm>
            <a:off x="800100" y="3143250"/>
            <a:ext cx="171450" cy="171450"/>
          </a:xfrm>
          <a:prstGeom prst="ellipse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4" name="11/2026"/>
          <p:cNvSpPr txBox="1"/>
          <p:nvPr/>
        </p:nvSpPr>
        <p:spPr>
          <a:xfrm>
            <a:off x="1162050" y="3019425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11/2026</a:t>
            </a:r>
            <a:endParaRPr lang="vi-VN" sz="1300"/>
          </a:p>
        </p:txBody>
      </p:sp>
      <p:sp>
        <p:nvSpPr>
          <p:cNvPr id="15" name="Duy trì 100.000 đ/ngày"/>
          <p:cNvSpPr txBox="1"/>
          <p:nvPr/>
        </p:nvSpPr>
        <p:spPr>
          <a:xfrm>
            <a:off x="3486150" y="29622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Duy trì 100.000 đ/ngày</a:t>
            </a:r>
            <a:endParaRPr lang="vi-VN" sz="1700"/>
          </a:p>
        </p:txBody>
      </p:sp>
      <p:sp>
        <p:nvSpPr>
          <p:cNvPr id="16" name="Bước vào tháng cao điểm thứ hai."/>
          <p:cNvSpPr txBox="1"/>
          <p:nvPr/>
        </p:nvSpPr>
        <p:spPr>
          <a:xfrm>
            <a:off x="3486150" y="328612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Bước vào tháng cao điểm thứ hai.</a:t>
            </a:r>
            <a:endParaRPr lang="vi-VN" sz="1200"/>
          </a:p>
        </p:txBody>
      </p:sp>
      <p:sp>
        <p:nvSpPr>
          <p:cNvPr id="17" name="Shape"/>
          <p:cNvSpPr txBox="1"/>
          <p:nvPr/>
        </p:nvSpPr>
        <p:spPr>
          <a:xfrm>
            <a:off x="800100" y="3990975"/>
            <a:ext cx="171450" cy="171450"/>
          </a:xfrm>
          <a:prstGeom prst="ellipse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8" name="12/2026"/>
          <p:cNvSpPr txBox="1"/>
          <p:nvPr/>
        </p:nvSpPr>
        <p:spPr>
          <a:xfrm>
            <a:off x="1162050" y="3867150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12/2026</a:t>
            </a:r>
            <a:endParaRPr lang="vi-VN" sz="1300"/>
          </a:p>
        </p:txBody>
      </p:sp>
      <p:sp>
        <p:nvSpPr>
          <p:cNvPr id="19" name="Duy trì và tối ưu chuyển đổi"/>
          <p:cNvSpPr txBox="1"/>
          <p:nvPr/>
        </p:nvSpPr>
        <p:spPr>
          <a:xfrm>
            <a:off x="3486150" y="38100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Duy trì và tối ưu chuyển đổi</a:t>
            </a:r>
            <a:endParaRPr lang="vi-VN" sz="1700"/>
          </a:p>
        </p:txBody>
      </p:sp>
      <p:sp>
        <p:nvSpPr>
          <p:cNvPr id="20" name="Theo dõi đơn xác nhận, ROAS và mất hiển "/>
          <p:cNvSpPr txBox="1"/>
          <p:nvPr/>
        </p:nvSpPr>
        <p:spPr>
          <a:xfrm>
            <a:off x="3486150" y="41338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Theo dõi đơn xác nhận, ROAS và mất hiển thị.</a:t>
            </a:r>
            <a:endParaRPr lang="vi-VN" sz="1200"/>
          </a:p>
        </p:txBody>
      </p:sp>
      <p:sp>
        <p:nvSpPr>
          <p:cNvPr id="21" name="Shape"/>
          <p:cNvSpPr txBox="1"/>
          <p:nvPr/>
        </p:nvSpPr>
        <p:spPr>
          <a:xfrm>
            <a:off x="800100" y="4838700"/>
            <a:ext cx="171450" cy="17145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2" name="01/2027 đến hạn giao"/>
          <p:cNvSpPr txBox="1"/>
          <p:nvPr/>
        </p:nvSpPr>
        <p:spPr>
          <a:xfrm>
            <a:off x="1162050" y="4714875"/>
            <a:ext cx="2038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01/2027 đến</a:t>
            </a:r>
            <a:endParaRPr lang="vi-VN" sz="1300"/>
          </a:p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hạn giao</a:t>
            </a:r>
            <a:endParaRPr lang="vi-VN" sz="1300"/>
          </a:p>
        </p:txBody>
      </p:sp>
      <p:sp>
        <p:nvSpPr>
          <p:cNvPr id="23" name="Giữ 100.000 đ/ngày hoặc tăng"/>
          <p:cNvSpPr txBox="1"/>
          <p:nvPr/>
        </p:nvSpPr>
        <p:spPr>
          <a:xfrm>
            <a:off x="3486150" y="465772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Giữ 100.000 đ/ngày hoặc tăng</a:t>
            </a:r>
            <a:endParaRPr lang="vi-VN" sz="1700"/>
          </a:p>
        </p:txBody>
      </p:sp>
      <p:sp>
        <p:nvSpPr>
          <p:cNvPr id="24" name="Tháng bán cao điểm cuối, bám tồn kho và "/>
          <p:cNvSpPr txBox="1"/>
          <p:nvPr/>
        </p:nvSpPr>
        <p:spPr>
          <a:xfrm>
            <a:off x="3486150" y="49815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Tháng bán cao điểm cuối, bám tồn kho và hạn giao.</a:t>
            </a:r>
            <a:endParaRPr lang="vi-VN" sz="1200"/>
          </a:p>
        </p:txBody>
      </p:sp>
      <p:sp>
        <p:nvSpPr>
          <p:cNvPr id="25" name="Shape"/>
          <p:cNvSpPr txBox="1"/>
          <p:nvPr/>
        </p:nvSpPr>
        <p:spPr>
          <a:xfrm>
            <a:off x="8420100" y="2095500"/>
            <a:ext cx="3086100" cy="356235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6" name="LOGIC MÙA VỤ"/>
          <p:cNvSpPr txBox="1"/>
          <p:nvPr/>
        </p:nvSpPr>
        <p:spPr>
          <a:xfrm>
            <a:off x="8667750" y="2343150"/>
            <a:ext cx="25717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E8D9BB"/>
                </a:solidFill>
                <a:latin typeface="Aptos"/>
                <a:ea typeface="Aptos"/>
              </a:rPr>
              <a:t xml:space="preserve">LOGIC MÙA VỤ</a:t>
            </a:r>
            <a:endParaRPr lang="vi-VN" sz="1100"/>
          </a:p>
        </p:txBody>
      </p:sp>
      <p:sp>
        <p:nvSpPr>
          <p:cNvPr id="27" name="4 tháng"/>
          <p:cNvSpPr txBox="1"/>
          <p:nvPr/>
        </p:nvSpPr>
        <p:spPr>
          <a:xfrm>
            <a:off x="8667750" y="2809875"/>
            <a:ext cx="257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FFFFFF"/>
                </a:solidFill>
                <a:latin typeface="Aptos"/>
                <a:ea typeface="Aptos"/>
              </a:rPr>
              <a:t xml:space="preserve">4 tháng</a:t>
            </a:r>
            <a:endParaRPr lang="vi-VN" sz="2800"/>
          </a:p>
        </p:txBody>
      </p:sp>
      <p:sp>
        <p:nvSpPr>
          <p:cNvPr id="28" name="10/2026–01/2027"/>
          <p:cNvSpPr txBox="1"/>
          <p:nvPr/>
        </p:nvSpPr>
        <p:spPr>
          <a:xfrm>
            <a:off x="8667750" y="341947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400">
                <a:solidFill>
                  <a:srgbClr val="FFFFFF"/>
                </a:solidFill>
                <a:latin typeface="Aptos"/>
                <a:ea typeface="Aptos"/>
              </a:rPr>
              <a:t xml:space="preserve">10/2026–01/2027</a:t>
            </a:r>
            <a:endParaRPr lang="vi-VN" sz="1400"/>
          </a:p>
        </p:txBody>
      </p:sp>
      <p:sp>
        <p:nvSpPr>
          <p:cNvPr id="29" name="Shape"/>
          <p:cNvSpPr txBox="1"/>
          <p:nvPr/>
        </p:nvSpPr>
        <p:spPr>
          <a:xfrm>
            <a:off x="8667750" y="3857625"/>
            <a:ext cx="2476500" cy="952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0" name="Mùa trước: Tết 17/02/2026, bắt đầu đẩy t"/>
          <p:cNvSpPr txBox="1"/>
          <p:nvPr/>
        </p:nvSpPr>
        <p:spPr>
          <a:xfrm>
            <a:off x="8667750" y="4095750"/>
            <a:ext cx="2571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FFFFFF"/>
                </a:solidFill>
                <a:latin typeface="Aptos"/>
                <a:ea typeface="Aptos"/>
              </a:rPr>
              <a:t xml:space="preserve">Mùa trước: Tết 17/02/2026, bắt đầu đẩy từ 11/2025.</a:t>
            </a:r>
            <a:endParaRPr lang="vi-VN" sz="1300"/>
          </a:p>
        </p:txBody>
      </p:sp>
      <p:sp>
        <p:nvSpPr>
          <p:cNvPr id="31" name="Mùa 2027: bắt đầu từ 10/2026."/>
          <p:cNvSpPr txBox="1"/>
          <p:nvPr/>
        </p:nvSpPr>
        <p:spPr>
          <a:xfrm>
            <a:off x="8667750" y="4724400"/>
            <a:ext cx="25717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  <a:ea typeface="Aptos"/>
              </a:rPr>
              <a:t xml:space="preserve">Mùa 2027: bắt đầu từ 10/2026.</a:t>
            </a:r>
            <a:endParaRPr lang="vi-VN" sz="1300"/>
          </a:p>
        </p:txBody>
      </p:sp>
      <p:sp>
        <p:nvSpPr>
          <p:cNvPr id="32" name="Dừng Ads theo hạn giao thực tế trước Tết"/>
          <p:cNvSpPr txBox="1"/>
          <p:nvPr/>
        </p:nvSpPr>
        <p:spPr>
          <a:xfrm>
            <a:off x="8667750" y="5238750"/>
            <a:ext cx="25717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E8D9BB"/>
                </a:solidFill>
                <a:latin typeface="Aptos"/>
                <a:ea typeface="Aptos"/>
              </a:rPr>
              <a:t xml:space="preserve">Dừng Ads theo hạn giao thực tế trước Tết 06/02.</a:t>
            </a:r>
            <a:endParaRPr lang="vi-V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QUẢN TRỊ TRIỂN KHAI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QUẢN TRỊ TRIỂN KHAI</a:t>
            </a:r>
            <a:endParaRPr lang="vi-VN" sz="1100"/>
          </a:p>
        </p:txBody>
      </p:sp>
      <p:sp>
        <p:nvSpPr>
          <p:cNvPr id="7" name="Giữ mức 100.000 đ/ngày, tối ưu theo hiệu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Giữ mức 100.000 đ/ngày, tối ưu theo hiệu quả</a:t>
            </a:r>
            <a:endParaRPr lang="vi-VN" sz="3000"/>
          </a:p>
        </p:txBody>
      </p:sp>
      <p:sp>
        <p:nvSpPr>
          <p:cNvPr id="8" name="01"/>
          <p:cNvSpPr txBox="1"/>
          <p:nvPr/>
        </p:nvSpPr>
        <p:spPr>
          <a:xfrm>
            <a:off x="685800" y="21145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01</a:t>
            </a:r>
            <a:endParaRPr lang="vi-VN" sz="2500"/>
          </a:p>
        </p:txBody>
      </p:sp>
      <p:sp>
        <p:nvSpPr>
          <p:cNvPr id="9" name="TRƯỚC KHI CHẠY"/>
          <p:cNvSpPr txBox="1"/>
          <p:nvPr/>
        </p:nvSpPr>
        <p:spPr>
          <a:xfrm>
            <a:off x="1352550" y="21336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TRƯỚC KHI CHẠY</a:t>
            </a:r>
            <a:endParaRPr lang="vi-VN" sz="1000"/>
          </a:p>
        </p:txBody>
      </p:sp>
      <p:sp>
        <p:nvSpPr>
          <p:cNvPr id="10" name="Kiểm tra đo lường"/>
          <p:cNvSpPr txBox="1"/>
          <p:nvPr/>
        </p:nvSpPr>
        <p:spPr>
          <a:xfrm>
            <a:off x="1352550" y="245745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Kiểm tra đo lường</a:t>
            </a:r>
            <a:endParaRPr lang="vi-VN" sz="1800"/>
          </a:p>
        </p:txBody>
      </p:sp>
      <p:sp>
        <p:nvSpPr>
          <p:cNvPr id="11" name="Đối soát Purchase, giá trị chuyển đổi và"/>
          <p:cNvSpPr txBox="1"/>
          <p:nvPr/>
        </p:nvSpPr>
        <p:spPr>
          <a:xfrm>
            <a:off x="1352550" y="28098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Đối soát Purchase, giá trị chuyển đổi và doanh thu. Tách thêm giỏ hàng, nhấp gọi khỏi KPI đơn mua đã xác nhận.</a:t>
            </a:r>
            <a:endParaRPr lang="vi-VN" sz="1300"/>
          </a:p>
        </p:txBody>
      </p:sp>
      <p:sp>
        <p:nvSpPr>
          <p:cNvPr id="12" name="Shape"/>
          <p:cNvSpPr txBox="1"/>
          <p:nvPr/>
        </p:nvSpPr>
        <p:spPr>
          <a:xfrm>
            <a:off x="685800" y="3543300"/>
            <a:ext cx="6762750" cy="9525"/>
          </a:xfrm>
          <a:prstGeom prst="rect">
            <a:avLst/>
          </a:prstGeom>
          <a:solidFill>
            <a:srgbClr val="DCD2C2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3" name="02"/>
          <p:cNvSpPr txBox="1"/>
          <p:nvPr/>
        </p:nvSpPr>
        <p:spPr>
          <a:xfrm>
            <a:off x="685800" y="37528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02</a:t>
            </a:r>
            <a:endParaRPr lang="vi-VN" sz="2500"/>
          </a:p>
        </p:txBody>
      </p:sp>
      <p:sp>
        <p:nvSpPr>
          <p:cNvPr id="14" name="HÀNG TUẦN"/>
          <p:cNvSpPr txBox="1"/>
          <p:nvPr/>
        </p:nvSpPr>
        <p:spPr>
          <a:xfrm>
            <a:off x="1352550" y="37719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HÀNG TUẦN</a:t>
            </a:r>
            <a:endParaRPr lang="vi-VN" sz="1000"/>
          </a:p>
        </p:txBody>
      </p:sp>
      <p:sp>
        <p:nvSpPr>
          <p:cNvPr id="15" name="Đánh giá từng campaign"/>
          <p:cNvSpPr txBox="1"/>
          <p:nvPr/>
        </p:nvSpPr>
        <p:spPr>
          <a:xfrm>
            <a:off x="1352550" y="409575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Đánh giá từng campaign</a:t>
            </a:r>
            <a:endParaRPr lang="vi-VN" sz="1800"/>
          </a:p>
        </p:txBody>
      </p:sp>
      <p:sp>
        <p:nvSpPr>
          <p:cNvPr id="16" name="Theo dõi đơn xác nhận, ROAS, chi phí mỗi"/>
          <p:cNvSpPr txBox="1"/>
          <p:nvPr/>
        </p:nvSpPr>
        <p:spPr>
          <a:xfrm>
            <a:off x="1352550" y="4448175"/>
            <a:ext cx="60960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Theo dõi đơn xác nhận, ROAS, chi phí mỗi đơn và tỷ lệ mất hiển thị do ngân sách. Không giảm chỉ vì dữ liệu vài ngày đầu.</a:t>
            </a:r>
            <a:endParaRPr lang="vi-VN" sz="1300"/>
          </a:p>
        </p:txBody>
      </p:sp>
      <p:sp>
        <p:nvSpPr>
          <p:cNvPr id="17" name="Shape"/>
          <p:cNvSpPr txBox="1"/>
          <p:nvPr/>
        </p:nvSpPr>
        <p:spPr>
          <a:xfrm>
            <a:off x="685800" y="5276850"/>
            <a:ext cx="6762750" cy="9525"/>
          </a:xfrm>
          <a:prstGeom prst="rect">
            <a:avLst/>
          </a:prstGeom>
          <a:solidFill>
            <a:srgbClr val="DCD2C2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8" name="03"/>
          <p:cNvSpPr txBox="1"/>
          <p:nvPr/>
        </p:nvSpPr>
        <p:spPr>
          <a:xfrm>
            <a:off x="685800" y="54673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03</a:t>
            </a:r>
            <a:endParaRPr lang="vi-VN" sz="2500"/>
          </a:p>
        </p:txBody>
      </p:sp>
      <p:sp>
        <p:nvSpPr>
          <p:cNvPr id="19" name="THEO LỢI NHUẬN"/>
          <p:cNvSpPr txBox="1"/>
          <p:nvPr/>
        </p:nvSpPr>
        <p:spPr>
          <a:xfrm>
            <a:off x="1352550" y="54864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THEO LỢI NHUẬN</a:t>
            </a:r>
            <a:endParaRPr lang="vi-VN" sz="1000"/>
          </a:p>
        </p:txBody>
      </p:sp>
      <p:sp>
        <p:nvSpPr>
          <p:cNvPr id="20" name="Biên lợi nhuận 20%: ROAS hòa vốn 5, mục "/>
          <p:cNvSpPr txBox="1"/>
          <p:nvPr/>
        </p:nvSpPr>
        <p:spPr>
          <a:xfrm>
            <a:off x="1352550" y="5781675"/>
            <a:ext cx="6096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 b="1">
                <a:solidFill>
                  <a:srgbClr val="261F1E"/>
                </a:solidFill>
                <a:latin typeface="Aptos"/>
                <a:ea typeface="Aptos"/>
              </a:rPr>
              <a:t xml:space="preserve">Biên lợi nhuận 20%: ROAS hòa vốn 5, mục tiêu vận hành 6.</a:t>
            </a:r>
            <a:endParaRPr lang="vi-VN" sz="1200"/>
          </a:p>
        </p:txBody>
      </p:sp>
      <p:sp>
        <p:nvSpPr>
          <p:cNvPr id="21" name="Shape"/>
          <p:cNvSpPr txBox="1"/>
          <p:nvPr/>
        </p:nvSpPr>
        <p:spPr>
          <a:xfrm>
            <a:off x="7905750" y="2114550"/>
            <a:ext cx="3600450" cy="3810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2" name="TRƯỚC NGÀY 10/10"/>
          <p:cNvSpPr txBox="1"/>
          <p:nvPr/>
        </p:nvSpPr>
        <p:spPr>
          <a:xfrm>
            <a:off x="8172450" y="23622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E8D9BB"/>
                </a:solidFill>
                <a:latin typeface="Aptos"/>
                <a:ea typeface="Aptos"/>
              </a:rPr>
              <a:t xml:space="preserve">TRƯỚC NGÀY 10/10</a:t>
            </a:r>
            <a:endParaRPr lang="vi-VN" sz="1000"/>
          </a:p>
        </p:txBody>
      </p:sp>
      <p:sp>
        <p:nvSpPr>
          <p:cNvPr id="23" name="Chốt nguồn bổ sung 70.000 đ/ngày."/>
          <p:cNvSpPr txBox="1"/>
          <p:nvPr/>
        </p:nvSpPr>
        <p:spPr>
          <a:xfrm>
            <a:off x="8172450" y="2838450"/>
            <a:ext cx="3067050" cy="857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300" b="1">
                <a:solidFill>
                  <a:srgbClr val="FFFFFF"/>
                </a:solidFill>
                <a:latin typeface="Aptos"/>
                <a:ea typeface="Aptos"/>
              </a:rPr>
              <a:t xml:space="preserve">Chốt nguồn bổ sung 70.000 đ/ngày.</a:t>
            </a:r>
            <a:endParaRPr lang="vi-VN" sz="2300"/>
          </a:p>
        </p:txBody>
      </p:sp>
      <p:sp>
        <p:nvSpPr>
          <p:cNvPr id="24" name="Shape"/>
          <p:cNvSpPr txBox="1"/>
          <p:nvPr/>
        </p:nvSpPr>
        <p:spPr>
          <a:xfrm>
            <a:off x="8172450" y="3943350"/>
            <a:ext cx="800100" cy="2857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5" name="Xác nhận hai campaign tạm dừng và giữ ca"/>
          <p:cNvSpPr txBox="1"/>
          <p:nvPr/>
        </p:nvSpPr>
        <p:spPr>
          <a:xfrm>
            <a:off x="8172450" y="4267200"/>
            <a:ext cx="3067050" cy="990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FFFFFF"/>
                </a:solidFill>
                <a:latin typeface="Aptos"/>
                <a:ea typeface="Aptos"/>
              </a:rPr>
              <a:t xml:space="preserve">Xác nhận hai campaign tạm dừng và giữ campaign 80.000 đ/ngày.</a:t>
            </a:r>
            <a:endParaRPr lang="vi-V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vas Editorial">
  <a:themeElements>
    <a:clrScheme name="Chivas">
      <a:dk1>
        <a:srgbClr val="261F1E"/>
      </a:dk1>
      <a:lt1>
        <a:srgbClr val="F5F0E7"/>
      </a:lt1>
      <a:dk2>
        <a:srgbClr val="54131D"/>
      </a:dk2>
      <a:lt2>
        <a:srgbClr val="FBF8F2"/>
      </a:lt2>
      <a:accent1>
        <a:srgbClr val="7A1F2B"/>
      </a:accent1>
      <a:accent2>
        <a:srgbClr val="B89051"/>
      </a:accent2>
      <a:accent3>
        <a:srgbClr val="516E59"/>
      </a:accent3>
      <a:accent4>
        <a:srgbClr val="E8D9BB"/>
      </a:accent4>
      <a:accent5>
        <a:srgbClr val="F0E2DF"/>
      </a:accent5>
      <a:accent6>
        <a:srgbClr val="716966"/>
      </a:accent6>
      <a:hlink>
        <a:srgbClr val="7A1F2B"/>
      </a:hlink>
      <a:folHlink>
        <a:srgbClr val="54131D"/>
      </a:folHlink>
    </a:clrScheme>
    <a:fontScheme name="Aptos">
      <a:majorFont>
        <a:latin typeface="Aptos"/>
        <a:ea typeface="Aptos"/>
      </a:majorFont>
      <a:minorFont>
        <a:latin typeface="Aptos"/>
        <a:ea typeface="Aptos"/>
      </a:minorFont>
    </a:fontScheme>
    <a:fmtScheme name="Office">
      <a:fillStyleLst>
        <a:solidFill>
          <a:schemeClr val="phClr"/>
        </a:solidFill>
        <a:solidFill>
          <a:schemeClr val="phClr">
            <a:lumMod val="50000"/>
          </a:schemeClr>
        </a:solidFill>
        <a:solidFill>
          <a:schemeClr val="phClr">
            <a:lumMod val="75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  <a:satMod val="150000"/>
          </a:schemeClr>
        </a:solidFill>
      </a:bgFillStyleLst>
    </a:fmtScheme>
  </a:themeElements>
  <a:objectDefaults/>
  <a:extraClrSchemeLst/>
</a:theme>
</file>